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5d8c4774a844d8" /><Relationship Type="http://schemas.openxmlformats.org/officeDocument/2006/relationships/extended-properties" Target="/docProps/app.xml" Id="R72c01b4d9766460e" /><Relationship Type="http://schemas.openxmlformats.org/officeDocument/2006/relationships/officeDocument" Target="/ppt/presentation.xml" Id="R91ef8aedf77349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9505aa9c9242b0"/>
  </p:sldMasterIdLst>
  <p:notesMasterIdLst>
    <p:notesMasterId xmlns:r="http://schemas.openxmlformats.org/officeDocument/2006/relationships" r:id="R3fcfd46757364ac2"/>
  </p:notesMasterIdLst>
  <p:sldIdLst>
    <p:sldId xmlns:r="http://schemas.openxmlformats.org/officeDocument/2006/relationships" id="256" r:id="R3d27f2ba44144ca8"/>
    <p:sldId xmlns:r="http://schemas.openxmlformats.org/officeDocument/2006/relationships" id="257" r:id="Rfaaa6742e6994336"/>
    <p:sldId xmlns:r="http://schemas.openxmlformats.org/officeDocument/2006/relationships" id="258" r:id="R452716bb77ba4a29"/>
    <p:sldId xmlns:r="http://schemas.openxmlformats.org/officeDocument/2006/relationships" id="259" r:id="Rbd14c4ad9eb741e5"/>
    <p:sldId xmlns:r="http://schemas.openxmlformats.org/officeDocument/2006/relationships" id="260" r:id="Raa1826e5edec4aaa"/>
    <p:sldId xmlns:r="http://schemas.openxmlformats.org/officeDocument/2006/relationships" id="261" r:id="Rce58cec437204cde"/>
    <p:sldId xmlns:r="http://schemas.openxmlformats.org/officeDocument/2006/relationships" id="262" r:id="Rb6ccd1d9d7024a6e"/>
    <p:sldId xmlns:r="http://schemas.openxmlformats.org/officeDocument/2006/relationships" id="263" r:id="Rfdc93b4e53754f65"/>
    <p:sldId xmlns:r="http://schemas.openxmlformats.org/officeDocument/2006/relationships" id="264" r:id="R53d63967ba704170"/>
    <p:sldId xmlns:r="http://schemas.openxmlformats.org/officeDocument/2006/relationships" id="265" r:id="R9772c94878224697"/>
    <p:sldId xmlns:r="http://schemas.openxmlformats.org/officeDocument/2006/relationships" id="266" r:id="Rae5cf84ca5d549fc"/>
    <p:sldId xmlns:r="http://schemas.openxmlformats.org/officeDocument/2006/relationships" id="267" r:id="Re8fae486c2af44d3"/>
    <p:sldId xmlns:r="http://schemas.openxmlformats.org/officeDocument/2006/relationships" id="268" r:id="R1b4c2dbb394147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9505aa9c9242b0" /><Relationship Type="http://schemas.openxmlformats.org/officeDocument/2006/relationships/theme" Target="/ppt/theme/theme1.xml" Id="R87b3605447754912" /><Relationship Type="http://schemas.openxmlformats.org/officeDocument/2006/relationships/notesMaster" Target="/ppt/notesMasters/notesMaster1.xml" Id="R3fcfd46757364ac2" /><Relationship Type="http://schemas.openxmlformats.org/officeDocument/2006/relationships/presProps" Target="/ppt/presProps.xml" Id="Rf13ddcf91e98425f" /><Relationship Type="http://schemas.openxmlformats.org/officeDocument/2006/relationships/viewProps" Target="/ppt/viewProps.xml" Id="Rdff7d123a830421e" /><Relationship Type="http://schemas.openxmlformats.org/officeDocument/2006/relationships/tableStyles" Target="/ppt/tableStyles.xml" Id="R6eba4f8b3de742df" /><Relationship Type="http://schemas.openxmlformats.org/officeDocument/2006/relationships/slide" Target="/ppt/slides/slide1.xml" Id="R3d27f2ba44144ca8" /><Relationship Type="http://schemas.openxmlformats.org/officeDocument/2006/relationships/slide" Target="/ppt/slides/slide2.xml" Id="Rfaaa6742e6994336" /><Relationship Type="http://schemas.openxmlformats.org/officeDocument/2006/relationships/slide" Target="/ppt/slides/slide3.xml" Id="R452716bb77ba4a29" /><Relationship Type="http://schemas.openxmlformats.org/officeDocument/2006/relationships/slide" Target="/ppt/slides/slide4.xml" Id="Rbd14c4ad9eb741e5" /><Relationship Type="http://schemas.openxmlformats.org/officeDocument/2006/relationships/slide" Target="/ppt/slides/slide5.xml" Id="Raa1826e5edec4aaa" /><Relationship Type="http://schemas.openxmlformats.org/officeDocument/2006/relationships/slide" Target="/ppt/slides/slide6.xml" Id="Rce58cec437204cde" /><Relationship Type="http://schemas.openxmlformats.org/officeDocument/2006/relationships/slide" Target="/ppt/slides/slide7.xml" Id="Rb6ccd1d9d7024a6e" /><Relationship Type="http://schemas.openxmlformats.org/officeDocument/2006/relationships/slide" Target="/ppt/slides/slide8.xml" Id="Rfdc93b4e53754f65" /><Relationship Type="http://schemas.openxmlformats.org/officeDocument/2006/relationships/slide" Target="/ppt/slides/slide9.xml" Id="R53d63967ba704170" /><Relationship Type="http://schemas.openxmlformats.org/officeDocument/2006/relationships/slide" Target="/ppt/slides/slide10.xml" Id="R9772c94878224697" /><Relationship Type="http://schemas.openxmlformats.org/officeDocument/2006/relationships/slide" Target="/ppt/slides/slide11.xml" Id="Rae5cf84ca5d549fc" /><Relationship Type="http://schemas.openxmlformats.org/officeDocument/2006/relationships/slide" Target="/ppt/slides/slide12.xml" Id="Re8fae486c2af44d3" /><Relationship Type="http://schemas.openxmlformats.org/officeDocument/2006/relationships/slide" Target="/ppt/slides/slide13.xml" Id="R1b4c2dbb3941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0dd5650bc2747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ad1d1f4fbb4fc8" /><Relationship Type="http://schemas.openxmlformats.org/officeDocument/2006/relationships/notesMaster" Target="/ppt/notesMasters/notesMaster1.xml" Id="R9279ce480be948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5fea6125e64341" /><Relationship Type="http://schemas.openxmlformats.org/officeDocument/2006/relationships/notesMaster" Target="/ppt/notesMasters/notesMaster1.xml" Id="Rc4014ec1d87a47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f91003dba54450" /><Relationship Type="http://schemas.openxmlformats.org/officeDocument/2006/relationships/notesMaster" Target="/ppt/notesMasters/notesMaster1.xml" Id="Rdd4d4da23a414a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d29f1b42b446a3" /><Relationship Type="http://schemas.openxmlformats.org/officeDocument/2006/relationships/notesMaster" Target="/ppt/notesMasters/notesMaster1.xml" Id="Raa94d1fbe76346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9bf90f59614eae" /><Relationship Type="http://schemas.openxmlformats.org/officeDocument/2006/relationships/notesMaster" Target="/ppt/notesMasters/notesMaster1.xml" Id="Rb96f9ebcaf4b42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fa9ffa98414ee1" /><Relationship Type="http://schemas.openxmlformats.org/officeDocument/2006/relationships/notesMaster" Target="/ppt/notesMasters/notesMaster1.xml" Id="R21d744180fdc4e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b3f9a29e1d49d6" /><Relationship Type="http://schemas.openxmlformats.org/officeDocument/2006/relationships/notesMaster" Target="/ppt/notesMasters/notesMaster1.xml" Id="R3dacfa4cfec34a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6f003655fe4549" /><Relationship Type="http://schemas.openxmlformats.org/officeDocument/2006/relationships/notesMaster" Target="/ppt/notesMasters/notesMaster1.xml" Id="R32ef4305bf4242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53ef9d1e9f4f10" /><Relationship Type="http://schemas.openxmlformats.org/officeDocument/2006/relationships/notesMaster" Target="/ppt/notesMasters/notesMaster1.xml" Id="Rdf512aeedddc44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8720b983f945df" /><Relationship Type="http://schemas.openxmlformats.org/officeDocument/2006/relationships/notesMaster" Target="/ppt/notesMasters/notesMaster1.xml" Id="Rde7b1f2b188b49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5e54b1ca50486e" /><Relationship Type="http://schemas.openxmlformats.org/officeDocument/2006/relationships/notesMaster" Target="/ppt/notesMasters/notesMaster1.xml" Id="R0e28a50ba8484b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c537fab2704bda" /><Relationship Type="http://schemas.openxmlformats.org/officeDocument/2006/relationships/notesMaster" Target="/ppt/notesMasters/notesMaster1.xml" Id="R7feb0458350641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8875b6f6cd4f3b" /><Relationship Type="http://schemas.openxmlformats.org/officeDocument/2006/relationships/notesMaster" Target="/ppt/notesMasters/notesMaster1.xml" Id="R57568266e05e45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domain, team, and the final goal: a structured knowledge graph for smart library processes.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SmartLibraryOntology GitHub repository and local project artifacts.</a:t>
            </a:r>
          </a:p>
          <a:p xmlns:a="http://schemas.openxmlformats.org/drawingml/2006/main">
            <a:r>
              <a:t>- ontology/smart-library.ttl, version 0.2.0.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why this is more than a database exercise: the point is semantic integration and explainable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SmartLibraryOntology GitHub repository and local project artifacts.</a:t>
            </a:r>
          </a:p>
          <a:p xmlns:a="http://schemas.openxmlformats.org/drawingml/2006/main">
            <a:r>
              <a:t>- Alrehaili et al. (2021), Ontology-Based Smart System to Automate Higher Education Activities.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the project now includes not only the ontology but also SHACL, SPARQL, documentation, PDF report, specification, and reproducibility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ontology/smart-library.ttl, version 0.2.0.</a:t>
            </a:r>
          </a:p>
          <a:p xmlns:a="http://schemas.openxmlformats.org/drawingml/2006/main">
            <a:r>
              <a:t>- SmartLibraryOntology GitHub repository and local project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this architecture is consistent with the selected research paper and makes the project easy to extend.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Alrehaili et al. (2021), Ontology-Based Smart System to Automate Higher Education Activities.</a:t>
            </a:r>
          </a:p>
          <a:p xmlns:a="http://schemas.openxmlformats.org/drawingml/2006/main">
            <a:r>
              <a:t>- SmartLibraryOntology GitHub repository and local project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TBox versus ABox and justify why the extension was modular.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ontology/smart-library.ttl, version 0.2.0.</a:t>
            </a:r>
          </a:p>
          <a:p xmlns:a="http://schemas.openxmlformats.org/drawingml/2006/main">
            <a:r>
              <a:t>- SmartLibraryOntology GitHub repository and local project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Schema.org and Dublin Core were reused in a lightweight way to improve interoperability.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ontology/smart-library.ttl, version 0.2.0.</a:t>
            </a:r>
          </a:p>
          <a:p xmlns:a="http://schemas.openxmlformats.org/drawingml/2006/main">
            <a:r>
              <a:t>- SmartLibraryOntology GitHub repository and local project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this slide directly to the Data Acquisition section in the report and to the selected research study.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data/phase2/resource_metadata_seed.csv and data/phase2/member_interest_seed.csv.</a:t>
            </a:r>
          </a:p>
          <a:p xmlns:a="http://schemas.openxmlformats.org/drawingml/2006/main">
            <a:r>
              <a:t>- Alrehaili et al. (2021), Ontology-Based Smart System to Automate Higher Education Activities.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that the graph is both conceptual and operational: it contains schema, individuals, and validation-ready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ontology/smart-library.ttl, version 0.2.0.</a:t>
            </a:r>
          </a:p>
          <a:p xmlns:a="http://schemas.openxmlformats.org/drawingml/2006/main">
            <a:r>
              <a:t>- SmartLibraryOntology GitHub repository and local project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concrete results: 1 available e-book, 4 provenance links, and an explicit recommendation candidate for Aylin Demir.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queries/competency-questions.rq and results/sparql/query-results-summary.md.</a:t>
            </a:r>
          </a:p>
          <a:p xmlns:a="http://schemas.openxmlformats.org/drawingml/2006/main">
            <a:r>
              <a:t>- ontology/smart-library.ttl, version 0.2.0.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important rubric slide: clearly say the graph was validated and that the report includes the validation artifact.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shapes/smart-library.shacl.ttl and results/validation/shacl-validation-report.txt.</a:t>
            </a:r>
          </a:p>
          <a:p xmlns:a="http://schemas.openxmlformats.org/drawingml/2006/main">
            <a:r>
              <a:t>- SmartLibraryOntology GitHub repository and local project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semantic graph is the trust layer and the LLM is an interface layer, not the source of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Fernandez et al. (2023), Personalized ontology and deep training tree-based optimal GRU-RNN for prediction of students' behavior.</a:t>
            </a:r>
          </a:p>
          <a:p xmlns:a="http://schemas.openxmlformats.org/drawingml/2006/main">
            <a:r>
              <a:t>- SmartLibraryOntology GitHub repository and local project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Conclude with strengths, note that the dataset is intentionally small, and highlight future work such as larger-scale ingestion and a live natural-language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SmartLibraryOntology GitHub repository and local project artifacts.</a:t>
            </a:r>
          </a:p>
          <a:p xmlns:a="http://schemas.openxmlformats.org/drawingml/2006/main">
            <a:r>
              <a:t>- shapes/smart-library.shacl.ttl and results/validation/shacl-validation-report.txt.</a:t>
            </a:r>
          </a:p>
          <a:p xmlns:a="http://schemas.openxmlformats.org/drawingml/2006/main">
            <a:r>
              <a:t>- queries/competency-questions.rq and results/sparql/query-results-summary.md.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final slide to show the exact repository and documentation links requested in the submission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SmartLibraryOntology GitHub repository and local project artifacts.</a:t>
            </a:r>
          </a:p>
          <a:p xmlns:a="http://schemas.openxmlformats.org/drawingml/2006/main">
            <a:r>
              <a:t>- ontology/smart-library.ttl, version 0.2.0.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6027562e74cb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87BD7ABE-4A62-4E9A-BDB2-9AAF791865E9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3089A87-F8A2-40B7-BBC7-D7CDDE930810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546831-BE9F-430B-A41C-DB90A4E9FE2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1F6D19-6C19-4BF6-B2A9-9A9C053647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a292f3f3a0f44bd" /><Relationship Type="http://schemas.openxmlformats.org/officeDocument/2006/relationships/slideLayout" Target="/ppt/slideLayouts/slideLayout2.xml" Id="R275e4d0baf2d46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55ED9B-344B-4627-877A-FEFCECD7188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5e4d0baf2d46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2fa2f3b2bc4819" /><Relationship Type="http://schemas.openxmlformats.org/officeDocument/2006/relationships/image" Target="/ppt/media/image.png" Id="R4a7a2aae6ef34a3c" /><Relationship Type="http://schemas.openxmlformats.org/officeDocument/2006/relationships/notesSlide" Target="/ppt/notesSlides/notesSlide1.xml" Id="R057006ae4ea24c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247bc6970d4e77" /><Relationship Type="http://schemas.openxmlformats.org/officeDocument/2006/relationships/image" Target="/ppt/media/image2.png" Id="R2fefa412a0f74d0a" /><Relationship Type="http://schemas.openxmlformats.org/officeDocument/2006/relationships/notesSlide" Target="/ppt/notesSlides/notesSlide2.xml" Id="R2096d096b7bb43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ac4f87a7fc4b74" /><Relationship Type="http://schemas.openxmlformats.org/officeDocument/2006/relationships/image" Target="/ppt/media/image3.png" Id="R852f3d170a84475b" /><Relationship Type="http://schemas.openxmlformats.org/officeDocument/2006/relationships/notesSlide" Target="/ppt/notesSlides/notesSlide3.xml" Id="Rf3d1de47dd3842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e63b95fe994c38" /><Relationship Type="http://schemas.openxmlformats.org/officeDocument/2006/relationships/image" Target="/ppt/media/image4.png" Id="R4b474fa261a64d4c" /><Relationship Type="http://schemas.openxmlformats.org/officeDocument/2006/relationships/notesSlide" Target="/ppt/notesSlides/notesSlide4.xml" Id="R71485c79aada47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613c1ef37e4fca" /><Relationship Type="http://schemas.openxmlformats.org/officeDocument/2006/relationships/image" Target="/ppt/media/image5.png" Id="R311a98859c674178" /><Relationship Type="http://schemas.openxmlformats.org/officeDocument/2006/relationships/notesSlide" Target="/ppt/notesSlides/notesSlide5.xml" Id="R18b0d60457d748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1ba4a8eae9481b" /><Relationship Type="http://schemas.openxmlformats.org/officeDocument/2006/relationships/image" Target="/ppt/media/image6.png" Id="Rac333d21991949f1" /><Relationship Type="http://schemas.openxmlformats.org/officeDocument/2006/relationships/notesSlide" Target="/ppt/notesSlides/notesSlide6.xml" Id="Ra959c5f02d5040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586def8f024511" /><Relationship Type="http://schemas.openxmlformats.org/officeDocument/2006/relationships/image" Target="/ppt/media/image7.png" Id="Reca2087743494c57" /><Relationship Type="http://schemas.openxmlformats.org/officeDocument/2006/relationships/notesSlide" Target="/ppt/notesSlides/notesSlide7.xml" Id="Ra5435b4d025e44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995e41359444c9" /><Relationship Type="http://schemas.openxmlformats.org/officeDocument/2006/relationships/image" Target="/ppt/media/image8.png" Id="R404ead61a0d54e9d" /><Relationship Type="http://schemas.openxmlformats.org/officeDocument/2006/relationships/notesSlide" Target="/ppt/notesSlides/notesSlide8.xml" Id="R6e329cdbafba47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043bc62fe545b5" /><Relationship Type="http://schemas.openxmlformats.org/officeDocument/2006/relationships/image" Target="/ppt/media/image9.png" Id="R448327509ff1419b" /><Relationship Type="http://schemas.openxmlformats.org/officeDocument/2006/relationships/notesSlide" Target="/ppt/notesSlides/notesSlide9.xml" Id="R5634eb8e2d8142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10af34339b4353" /><Relationship Type="http://schemas.openxmlformats.org/officeDocument/2006/relationships/image" Target="/ppt/media/image10.png" Id="R7a72907895374495" /><Relationship Type="http://schemas.openxmlformats.org/officeDocument/2006/relationships/notesSlide" Target="/ppt/notesSlides/notesSlide10.xml" Id="R27c3d7bb6bea4e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a40430d55e4f8f" /><Relationship Type="http://schemas.openxmlformats.org/officeDocument/2006/relationships/image" Target="/ppt/media/image11.png" Id="R84edcb626e874ab0" /><Relationship Type="http://schemas.openxmlformats.org/officeDocument/2006/relationships/notesSlide" Target="/ppt/notesSlides/notesSlide11.xml" Id="R08bfd4330f5c43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8a3455dda14652" /><Relationship Type="http://schemas.openxmlformats.org/officeDocument/2006/relationships/image" Target="/ppt/media/image12.png" Id="R135347e62dec47ea" /><Relationship Type="http://schemas.openxmlformats.org/officeDocument/2006/relationships/notesSlide" Target="/ppt/notesSlides/notesSlide12.xml" Id="R758d6102995a44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f7752b9d9f4850" /><Relationship Type="http://schemas.openxmlformats.org/officeDocument/2006/relationships/image" Target="/ppt/media/image13.png" Id="Rd52b68de9b6040b9" /><Relationship Type="http://schemas.openxmlformats.org/officeDocument/2006/relationships/notesSlide" Target="/ppt/notesSlides/notesSlide13.xml" Id="R83c28066320943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a2aae6ef34a3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277AD-C788-443E-972F-0982C816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1FE36-1928-4554-A4A9-BD791886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2AF47-9F01-4531-A009-304A1B65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KNOWLEDGE ENGINEERING AND ONTOLOGIES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72F7B-30BA-4386-A6F0-D21424CA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Smart Library Loan Ontology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F2DCC-22D7-4F17-8452-F2BB0486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Final presentation for a provenance-aware knowledge graph supporting circulation, validation, and future natural-language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99892-2945-4FDF-B7F2-BEE7BC82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FB9EE-27CC-467B-AD1C-6AB617D0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From library records to a queryable semantic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27277-3111-4D44-AF21-97793903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slide content is provided as editable PowerPoint text and shape objects.</a:t>
            </a:r>
          </a:p>
        </p:txBody>
      </p:sp>
    </p:spTree>
    <p:extLst>
      <p:ext uri="{BB962C8B-B14F-4D97-AF65-F5344CB8AC3E}">
        <p14:creationId xmlns:p14="http://schemas.microsoft.com/office/powerpoint/2010/main" val="1435993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fa412a0f74d0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041CA-BCF6-435D-8338-EB07F110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56FE5-37A7-4522-A7D2-1D88F22F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81AF1-2096-4AE9-ADC3-C0F23827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86814-0B9F-4749-9F9C-A25C9845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80BEE-CA8D-4B79-A58D-8E3EDE38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7A23E-136C-4E31-B53A-A62799BA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Problem Definition and Motivation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CDD79-5D2B-4F9A-BD4F-EDB212DE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Library knowledge is fragmented across catalog records, digital resources, and operational transactions.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692CF-30F4-400E-8D28-E0AC8A49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08AF1-5C0B-4BC6-AFD3-00D0582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652EF-6072-44FF-A07B-C2466337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2AA8F-F217-4E4B-A5AB-E6882A17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96C07-9D29-458A-9643-FE1D2EEA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EF133-77F0-40B1-BEC4-60DB6EB7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269AA-BC47-4A86-A5B9-EB93AE36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Real-world problem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222EB-DE47-4C8C-B19A-9F48C083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Traditional library data are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spread across metadata records,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circulation logs, spreadsheets,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and digital platforms, making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integrated querying difficult.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3F56A-19E1-4674-BCEB-A11F340A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6CDC6-753F-4211-A58F-6B3041BD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BB011-EAA3-4D50-A641-A34873F4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6BF23-0A96-4764-AA98-7E5BE6AD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62DF5-8D31-4036-A061-1A601808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BBA0A-0E08-438D-B0A7-06FA5E6A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2EDA3A-A025-433D-8F7E-4867DA45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Why ontology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1B42F5-A11E-4AA4-A17B-BBB7A33A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 ontology provides shared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vocabulary, explicit semantics,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and reusable relations for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resources, people, transactions,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topics, and provenance.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1900D-A504-4DF7-B0BC-D39884D4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EC32C4-64EC-4B19-AA8A-44736542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255167-2021-48F9-B761-A6CC81A1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8B70D9-F34E-4C5E-85CB-F2B8CA5A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DFDC08-1149-4D4A-80CC-00D53F2B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9A3BA4-B6A3-4D53-8783-C44AE07A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5A005D-B610-4E92-86B0-7B6A352F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Project goal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B10EF6-FFEC-4848-8636-246D3A7D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Build a smart-library knowledge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graph that supports competency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questions, SHACL validation, and a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future LLM interface grounded in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graph results.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1BC156-DB09-4D2A-8A16-3E46AB00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slide content is provided as editable PowerPoint text and shape objects.</a:t>
            </a:r>
          </a:p>
        </p:txBody>
      </p:sp>
    </p:spTree>
    <p:extLst>
      <p:ext uri="{BB962C8B-B14F-4D97-AF65-F5344CB8AC3E}">
        <p14:creationId xmlns:p14="http://schemas.microsoft.com/office/powerpoint/2010/main" val="225408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f3d170a84475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0A0EA-A661-4038-8C54-6CD0186C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9265C-4236-4B0F-8495-C8D1020F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DF2F3-2F22-4F1C-A652-F9C848F3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370A0-DAC8-4F57-B1A6-5854DA2A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0A85C-3D10-481C-9589-96063D32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00FA4-ACF6-4922-9BF2-DB8E6226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Project Scope and Final Deliverables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76867-C497-4A6A-B0BE-3439B233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final submission combines ontology modeling, data acquisition, validation, documentation, and reproducibility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CAD72-F6B0-4EFF-9630-D0216079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50D7A-2D1E-4A82-874C-D7CB89EB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5BBE6-95FD-4A68-8EEB-D5131E95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CD5D0-7CBC-44B9-90B4-ED65909F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Ontology classes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C0E9B-E7AC-419B-8047-A8328E05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Phase 2 ontology 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C9017-A88E-4DA2-9E22-3D5F61D4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14434-B066-4175-ABFD-D1606F87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4F171-F8A2-4AEE-A970-8876D6D1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1CB42-A39A-4DD4-B5D7-DA4EA241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Object properties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36BB8-AC07-4A5E-AE3E-9B4129A9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Including provenance and profile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D9ECA-D895-4DA9-A7C9-21A86D98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958BF-CADF-4A6D-9103-E47CA6E4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1485E-942D-440C-806A-2594D332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0D662-7F85-45E2-84B4-417E8EFC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Datatype properties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BABD2-61FF-49AC-8886-DE7F1C05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Including confidence and interaction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B5DCD-9A0E-412C-BAE8-913E0C8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slide content is provided as editable PowerPoint text and shape objects.</a:t>
            </a:r>
          </a:p>
        </p:txBody>
      </p:sp>
    </p:spTree>
    <p:extLst>
      <p:ext uri="{BB962C8B-B14F-4D97-AF65-F5344CB8AC3E}">
        <p14:creationId xmlns:p14="http://schemas.microsoft.com/office/powerpoint/2010/main" val="2034627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74fa261a64d4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30E6F-15C2-4F5A-B142-D2C41EC1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FF853-FA81-41C0-8BEC-B9842955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3A851-F36F-4472-8E1E-2A24A114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AD31F-D016-4F0B-9973-274EF5AB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953F5-9647-40E9-A7FD-F5F7479E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DB808-B0AE-473E-97BC-29103B56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System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F072A-72B6-4DE1-89FD-B3C7E1C4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project follows a staged semantic workflow inspired by ontology-centered automation research.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8EA62-9FD2-4B97-8C3A-C9097EB3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0D73C-6BA5-47A2-AA27-8FB01F50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89652-0476-46F7-8131-DEB627DA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E5471-6503-4270-8FEC-C881342C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263D3-0398-477D-B7D0-3D2BE34B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7CCF0-B902-4B7A-ABBA-BDC9A08B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AC541-B3DE-4A27-BBB4-73370A38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Specification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D8E05-3EC5-4537-AAFE-3169FA34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Competency questions define what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ontology and graph must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answer, including circulation,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provenance,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recommendation-ready retrieval.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0863C-80A5-4F05-B568-9715C67B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917CA-D8B4-4D23-8AAA-3094942F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7E71C-B0C5-4D04-8918-AA43416B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39401-FBBE-47CA-9CCB-8DB80BFA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7F532-F1A2-4A15-81D6-0FD6F156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8B2AEA-4544-4774-AE30-9D01B3D1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60E6B5-2622-4091-BAC8-172CC80B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Acquisition + graph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44B81-5959-4758-BAC2-34F0DE65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Data are collected from APIs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seed tables, normalized into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semantic topics and metadata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records, and represented as RDF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triples.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6C5372-00AE-4C3F-A1AE-35E37103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4F8C38-2E9E-4E5D-82BD-BB4397F0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E5C5DD-1CFC-4D70-B2C5-7E33C77F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8F6201-F2AB-4AA3-8BB6-6BD20BD5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B25561-3890-402C-9E04-DC6A5344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368166-DF05-4CF1-8EF2-D7CCC833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5DDC68-F7E4-4613-9B68-73037387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Access + control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49DA8F-4A98-4227-A55D-CF23726C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SPARQL queries retrieve evidence,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SHACL validates quality, and a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future LLM layer can translate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natural-language questions into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graph-grounded answers.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68C127-0A9D-493D-9C8E-F0D07811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slide content is provided as editable PowerPoint text and shape objects.</a:t>
            </a:r>
          </a:p>
        </p:txBody>
      </p:sp>
    </p:spTree>
    <p:extLst>
      <p:ext uri="{BB962C8B-B14F-4D97-AF65-F5344CB8AC3E}">
        <p14:creationId xmlns:p14="http://schemas.microsoft.com/office/powerpoint/2010/main" val="1211072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a98859c67417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FBB3E-08F9-4B23-89F9-B40A9CC1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CAC92-B1BA-4BB7-9534-590E56C6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D99CD-CE21-418E-91EC-DCFC46E9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44D15-84C0-4F53-8418-974A04CE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AAEB9-3E6A-4308-BAF4-9F9F2E59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E273D-62C5-4FA2-B1A8-3C585BF1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Ontology Design and Modeling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FC3D6-D232-43E1-B7F7-736F09D4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design separates a stable circulation core from newly added provenance and personalization modules.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032C3-E991-4EB0-B6DE-1D245755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4D6A4-0D99-4138-9DEE-ED595572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B32DB-3AF2-473F-B3DF-6B28AB63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0BBAB-B448-4492-B785-96AC88E2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ADF40-8287-41D8-93F5-10BD1001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0567D-ED5C-4D90-A47A-F9D47560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EFCB6-199F-4A3C-A96F-7B09C222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TBox 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EA796-6AC1-4DC3-85F5-6947E099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Core classes model members,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librarians, resources, branches,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publishers, loans, reservations,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and resource statuses.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D292C-3966-4DB3-8B0F-CD30693E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409C3-1379-47BB-8489-693FB734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7DE0F-B71E-4917-9BE4-B5A03B71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7CCB45-37BA-4063-8648-0F58045F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56594E-490C-46E4-88FA-B061E6C1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B3CF1-AA97-4749-8D9C-B720A55E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DA019-F3A5-4207-83BF-AE37337F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Phase 2 extension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6E5E26-AFFF-4540-A230-2E923EFC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New classes such as DataSource,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MetadataRecord, Topic,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MemberProfile, InteractionEvent,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and Recommendation extend the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ontology without breaking the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original model.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4C2216-817D-4B1F-B00F-6AE3527F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8C0193-AF94-4AE7-B0D6-E1221E81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D61CDD-AE55-443A-932C-CD4DEBB1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AD3B85-DA1D-41B9-8FAF-B0E19E71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293E73-0ECF-43C8-8665-4F393014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F6FD3B-4704-4FE5-85F8-64A300FD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7CBC5C-52C9-4349-87D8-33B3FBB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ABox examples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9CD24F-896C-4F52-9EB0-583429DC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Individuals such as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Book_OntologyDesign,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MetadataRecord_B5001,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Profile_Aylin_Demir,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Recommendation_001 demonstrate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real instance-level use.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8A6903-74D5-4246-9268-F66E207F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slide content is provided as editable PowerPoint text and shape objects.</a:t>
            </a:r>
          </a:p>
        </p:txBody>
      </p:sp>
    </p:spTree>
    <p:extLst>
      <p:ext uri="{BB962C8B-B14F-4D97-AF65-F5344CB8AC3E}">
        <p14:creationId xmlns:p14="http://schemas.microsoft.com/office/powerpoint/2010/main" val="951060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33d21991949f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9DCFD-59F2-46E7-95D7-4FAC4438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F2F24-FC5E-4318-858E-FC55D603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81AD9-837D-4BCA-B389-AC39C365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3D9F5-97D6-4724-9317-9164F44E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1BF51-282A-499D-9990-33A8A64D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163CE-F78A-47E4-9A49-4F735AB2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Ontology Expansion and Reuse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B5848-2056-4B50-8A05-623E855B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Version 0.2.0 moves beyond a simple draft by adding reusable semantic modules and lightweight vocabulary alignment.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70D90-E26E-4BCC-9D6A-FB4ED0B5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E9589-DC8B-4E3E-92F6-4C465999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0BA32-F822-4710-8758-3F49354B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476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B6627-51B5-4D75-A03C-E11747A6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RDF triples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12F3A-52D5-4184-B2C6-2E736C9E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Current graph 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52866-B2C6-4950-8EE0-D0D8F58B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B9A72-B74E-4191-8708-6C796297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224AD-44F0-41DF-A51E-D8EEECD1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65634-CB52-45BF-9CB1-916A7925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Named individuals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6AED0-7649-41BD-84BE-262849E2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ABox instances in the current 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EBC44-B806-45AD-87A4-79AB9C6A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D156D-905A-46AA-B76A-FB43C1D9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90EA1-5BB5-4491-82C5-59DBA445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v0.2.0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43D3AA-DA30-4F67-A26E-A3C0F616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Ontology version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E9ADFE-1A19-4EE9-AF16-A22B8333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Phase 2 extension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FD10F-DF2D-46EB-AE4D-EC4F5B5C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slide content is provided as editable PowerPoint text and shape objects.</a:t>
            </a:r>
          </a:p>
        </p:txBody>
      </p:sp>
    </p:spTree>
    <p:extLst>
      <p:ext uri="{BB962C8B-B14F-4D97-AF65-F5344CB8AC3E}">
        <p14:creationId xmlns:p14="http://schemas.microsoft.com/office/powerpoint/2010/main" val="1737638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2087743494c5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040A8-4551-4A8A-B094-DF3CA2C9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37C17-D8BC-4DA8-A42D-8CB7F9B6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D514E-E7EC-4B15-B0AC-62B89482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FCC93-2273-45BA-8CF0-C2A16416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154F9-F2B6-4767-A117-CA8D66A4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80942-884E-49D2-BF7C-BEC13533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Data Acquisition and Mapping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C95E6-E938-4426-B392-48A5DB61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Phase 2 makes the data workflow explicit instead of treating instances as manually inserted examples only.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4D2DE-74A9-48E7-A49E-ED33335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2F3F7-506E-403A-BE36-7084D027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34C76-F5BF-48A9-BB6D-F92104CB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43C9C-2F3D-43DF-93B4-3ABEB806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22DCD-1773-426E-ADE8-C89347EB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8BBE5-E509-419C-9E78-D2B9C75D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0F694-857C-4364-91B2-4E622AA7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Data sources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513BC-7A21-4497-A6FC-34CBA255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Open Library API and Google Books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API provide bibliographic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enrichment, while curated seed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tables stabilize identifiers,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status labels, and topics.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0102B-0A74-438E-853E-9C883086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B0C0A-EA5F-4C42-B641-475DD71C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1B5A9-E523-400B-AEE8-73AAA73B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A1645-2466-4170-95ED-68A12060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3A3E8-89F9-4006-951C-4A56B298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89F629-FE1F-49BA-9055-113ECFF4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E6E630-5F11-4105-92D7-A399F490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Preprocessing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34785-1018-476D-824F-DBB0B217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workflow normalizes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identifiers, resource states,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topic labels, and metadata-source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references before RDF population.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458C32-7FD7-400C-9132-8F5B06B1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CA88DB-E86B-430A-AE1C-D04AEC25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763AF0-D621-4288-8280-7312223C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E2207C-804E-491D-A176-F336AB38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68F348-1F07-4DED-B28A-BF5018B6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1E4B17-8773-47B5-96E1-D2D0D91D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A2256F-FD75-4E93-868B-302A43E7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Ontology mapping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5577D1-F7A3-48E4-B7D1-E7B996C3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Rows are mapped to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LibraryResource, MetadataRecord,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DataSource, MemberProfile,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InteractionEvent individuals,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making provenance queryable.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7A6510-93F3-4B79-BBA4-AAB73FF7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slide content is provided as editable PowerPoint text and shape objects.</a:t>
            </a:r>
          </a:p>
        </p:txBody>
      </p:sp>
    </p:spTree>
    <p:extLst>
      <p:ext uri="{BB962C8B-B14F-4D97-AF65-F5344CB8AC3E}">
        <p14:creationId xmlns:p14="http://schemas.microsoft.com/office/powerpoint/2010/main" val="771209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ead61a0d54e9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C461B-81C3-4273-AABE-E5E4FDB8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408A3-F321-48D3-B999-2E6301D2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1132D-68DF-464C-B4D2-488FB848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98252-DC55-4C86-88B3-15CA01B6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F249B-8361-4AD4-99F4-EADB394B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10D06-5604-49C2-B079-C4D5246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Knowledge Graph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F6B27-2A0C-4722-B96F-C129C71E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ontology and the populated data together form a queryable RDF graph rather than an isolated OWL schema.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BF83B-8010-455E-A64A-1A4BC69B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84303-24A1-4BC2-9EFB-31E5EB47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1D047-030F-41DF-B6B9-C018F774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4558B-4182-4D51-8F1E-E0D0189D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806B4-6CD4-452C-A20A-B21415AF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67EEF-5845-4177-83D0-CF03E566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392E9-5719-4F73-87B3-D222F6B4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Representative triples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6F7D2-5E55-4D92-A220-56231AED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Loan_001 loanedTo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Member_Aylin_Demir,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Book_OntologyDesign hasStatus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OnLoan, MetadataRecord_B5001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retrievedFromSource Open Library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API.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CD04B-0418-4067-9222-F0BAF1D5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F189E-C82E-4CBA-8D41-763D3972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3C559-9591-48B5-ACA9-96AB2374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3868F-926C-472C-9D94-E34E92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A5C93-EDFD-48DF-B458-6EC5EE63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613D1-A31F-4360-8687-026FCED1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442AF-6B5D-40A5-BFAE-3821559C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Graph modules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9A1C7C-86CA-4D1C-AECB-7EACE5F3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final graph integrates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circulation, bibliographic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metadata, provenance, semantic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topics, and recommendation-ready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profile signals.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294DA-1FFC-4A99-AC70-A85A243E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1B3D1B-0956-4AFC-B574-F482F430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1DCEE-683C-4AA3-9CFB-60FE2FBC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97441-2A6B-4993-9E46-7ECFF6E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F1E245-B421-4CF9-A8FA-05513AD9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D5D548-E80E-4CDD-B35F-85768773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359BE4-8723-48D7-BB2E-82F0A488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Deployment logic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BC1998-7A76-4A38-8AB0-D2E675DF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graph can be loaded into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Protégé or a triplestore such as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GraphDB, queried with SPARQL,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validated with SHACL.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739A1A-EF87-4D02-A602-7B496000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slide content is provided as editable PowerPoint text and shape objects.</a:t>
            </a:r>
          </a:p>
        </p:txBody>
      </p:sp>
    </p:spTree>
    <p:extLst>
      <p:ext uri="{BB962C8B-B14F-4D97-AF65-F5344CB8AC3E}">
        <p14:creationId xmlns:p14="http://schemas.microsoft.com/office/powerpoint/2010/main" val="599186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327509ff1419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6E927-84D0-479F-B94C-1609251C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E355B-9A96-40CD-AAEC-8F9B3076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2729F-73CB-4AFC-94AE-23E44094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EA931-EA72-4CA1-BBD7-6F183E73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3270F-6D7F-42D0-AF98-36ACD559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F587A-463E-486F-8F8A-58138EB7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SPARQL Queries and Competency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84D90-2D61-48DD-947D-A7741C80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query layer covers retrieval, provenance, personalization, and aggregation scenarios.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5C8CC-0E72-417C-AA91-DE1ACCF5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3346C-8AEA-4243-B042-6449D513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2BB56-B3BB-459E-A2C8-692839BE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1C56A-109D-42F2-A858-6B70B5EF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SPARQL queries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94BCF-BA11-4500-A705-2C1FEA6D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Across three query types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48006-9A79-4348-8820-31E295E7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D9FE1-16DD-4605-ADAC-D09C24AF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807BB-E603-42B5-B8DA-FCFAEFEC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A420F-80E4-4643-AE1A-C2F59E38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Topic-resource links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85747-65AC-4DD2-90BA-432C26BA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Returned by resource-topic query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E748A-8C5D-49E1-AFBD-D42B7F79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676A3-0FF3-453E-9DF0-56A8DCD3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063E3-F819-4474-8F6A-9A55A10E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0.93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B5D09-D9B8-417A-BFF7-510BE00A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Recommendation 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C9B7D-C71F-4364-BBCC-83782ADC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For Aylin Demir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FEBD9D-DD03-4822-A185-31983656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slide content is provided as editable PowerPoint text and shape objects.</a:t>
            </a:r>
          </a:p>
        </p:txBody>
      </p:sp>
    </p:spTree>
    <p:extLst>
      <p:ext uri="{BB962C8B-B14F-4D97-AF65-F5344CB8AC3E}">
        <p14:creationId xmlns:p14="http://schemas.microsoft.com/office/powerpoint/2010/main" val="7743772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290789537449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EAC5F-38C9-46B2-B258-1302FC77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A6FDC-00E9-4E99-9A45-CFDAB8D1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E3BCB-F7A7-4081-9FE3-7701399A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11B77-70C1-498D-880F-A5D0B23D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C4CF3-18C8-4013-9E0C-6FAFD106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06B8A-A5A3-45B5-9898-6AFAC30F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Validation and Data 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80548-BD9B-4395-9885-D4E4AD58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SHACL makes the expected integrity rules explicit and testable.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0E258-FCC1-4E4E-99DC-337F7012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6FED7-1D83-47DB-AA94-EF853E19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198B4-34EC-42BE-A4D9-9F25A6D8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86E7D-F5E8-4662-B65B-87E5E7B1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2F5A0-C00D-4007-80DE-78F386C8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9F389-2A54-46EF-ACFB-637FA2CB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4C275-685D-4E67-A074-92F5F30F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Shapes defined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E0971E-97F3-4C8D-81C9-684F76DB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LoanShape, ReservationShape,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LibraryResourceShape,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MetadataRecordShape,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RecommendationShape were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implemented for core integrity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checks.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95BC0-6996-4EE5-82E4-A51BB240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0CF75-6C87-478E-923B-79DADF2B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38F98-6039-452B-ABB4-769BB742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4C605-38A1-48BC-9BC3-86F869B4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763B5D-B520-4AAD-901B-96503931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35ECCC-1122-452C-BAE9-C51AFA2E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664CA-FE01-479D-B899-09EBC6D8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Constraint logic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B6FE4-603F-48B4-A5E8-A0A7D04E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validation layer enforces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cardinality, class membership,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mandatory properties,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confidence-score bounds.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DE5656-DF81-46A2-8748-81449692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D723C1-5F04-47E7-9DB6-8B77E669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269D6-F9F0-4CE0-B937-3EDE794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EA427B-7F45-4DA3-B2B5-FA937BA2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2CF07B-DE15-44EE-82D1-7BC64D2F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6E460E-69D9-4A21-9899-529D48BE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0F6D3A-D491-4B2C-82FA-E8A40C01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2369FF-BC92-47A7-835D-3224C96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current validation report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conforms successfully, showing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that the final graph satisfies the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SHACL constraints defined for the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project.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614AC-A9D7-45C1-9DE6-2ED36903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slide content is provided as editable PowerPoint text and shape objects.</a:t>
            </a:r>
          </a:p>
        </p:txBody>
      </p:sp>
    </p:spTree>
    <p:extLst>
      <p:ext uri="{BB962C8B-B14F-4D97-AF65-F5344CB8AC3E}">
        <p14:creationId xmlns:p14="http://schemas.microsoft.com/office/powerpoint/2010/main" val="5245852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dcb626e874ab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AC9B9-3705-4C3A-8ED1-D0BBF9DE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EECD4-4427-477B-845D-1D20661C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4FDC7-DA5F-40DE-BC52-64DAB34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11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F6EDF-A30E-4AFC-982B-2F03A7D1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5BC2E-40F9-469C-AEC1-6EA76706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A1DAE-84BA-42F5-97AC-55A8443C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LLM Integration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9C383-084C-4369-B9B9-CFD9A86E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project prepares a graph-grounded natural-language access layer rather than an unverified free-text answer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A8B38-EB0C-40C1-91B8-7EF938BA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009BE-3CA6-44F2-88BD-D1E9E8F1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52079-B227-4CC2-BAFC-BF6BA9D9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66F60-5FD5-4EFD-9247-6CEAC276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D75F9-47EC-42E3-BA13-DB2C91FD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4E474-30BD-4C2B-8555-66CBEDEC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F9C5D-A8DA-45E5-81EC-8BF91603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Input to SPARQL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DFDA2-6078-4A02-AA23-2C018A05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 user asks a natural-language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question, and the system maps it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to a SPARQL template using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ontology vocabulary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competency-question patterns.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F27EE-1B4D-400D-B9D5-BEC2CAA6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AAC36-E8B9-4A0C-98E3-FC1EEF4B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7EBC8-4283-4642-85A6-BC99FAEB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9B404-324A-4CA4-88A5-335132AB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1174A-FC3D-4C0C-A342-F41531EC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DD37C-B95D-45EE-872A-696EBF36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7728C7-870D-4CC7-ABEE-0869ECE5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Graph grounding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D85D59-7FD8-4C56-8AAB-FB857546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knowledge graph returns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structured results, which become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evidence layer for any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generated answer.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A13EC-0834-43DF-9DFC-E26BD7A9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8BC6C3-EB9F-4363-AECD-C811ABFF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3A4B76-4907-4863-B8DA-98F4A325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14304F-EFE4-4775-8160-63418D0E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99166D-FFC8-4C10-B338-9F6E6E9A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BA4FE4-DA63-44D2-91F7-6716FFD6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FD1E7D-506A-4964-9C8F-161AA1CA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Hallucination mitigation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6D6C8F-643A-493C-AB06-84B4880E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answer should be restricted to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retrieved graph facts; if no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evidence exists, the system should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explicitly state that no matching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graph result was found.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23BDC5-4BE5-4BDD-A8D9-2DCB07BD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slide content is provided as editable PowerPoint text and shape objects.</a:t>
            </a:r>
          </a:p>
        </p:txBody>
      </p:sp>
    </p:spTree>
    <p:extLst>
      <p:ext uri="{BB962C8B-B14F-4D97-AF65-F5344CB8AC3E}">
        <p14:creationId xmlns:p14="http://schemas.microsoft.com/office/powerpoint/2010/main" val="10757749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347e62dec47e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402A2-5FB3-46E8-91C4-63A113BD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7C9A6-A1DC-48CC-918D-403FD7FD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8B433-A737-4AFE-BC46-32A05C6C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12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B1CCC-304C-407C-A26E-71C4376A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A9E60-EAD2-4100-933F-BC9B61C0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A759F-CFE5-4C1F-8C70-3A48CC96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Evaluation, Limitations, and Final Deliverables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CDB73-C842-4B34-A5C8-B10DAEC0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final project is academically complete, reproducible, and ready for presentation and submission.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C835B-A4E9-44EE-995A-91223092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8CDCD-3AFB-4643-B0E4-E1F6E569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5D00D-D0C9-462F-8BD0-3249965D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77910-2D7A-43D6-8778-8E80BB80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Final PDFs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28252-8472-419C-A402-DF709DD4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Report + specification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85BB9-96ED-412F-93F7-644E5382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AFC69-ABDE-4AE9-AC47-546736ED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9D763-4456-428F-A160-3F7C558E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E03FA-375E-4A85-99D0-0EFA46C7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Public repository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EF826-A315-402F-A781-C3DCC3BA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With ontology, queries, SHACL, docs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775DB-3A6A-4E40-9D75-66F86D2F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4E69D-348B-461C-9C7A-1C5BDD1B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015F9-DD9A-4CFF-A58E-3FBE77F6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0F610-BC6D-458F-A26E-C2605DEC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Widoco site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552FC-836B-4322-AE42-2FB6D5BB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Hosted documentation target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D0CC5-3E99-44D4-A657-6960D357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slide content is provided as editable PowerPoint text and shape objects.</a:t>
            </a:r>
          </a:p>
        </p:txBody>
      </p:sp>
    </p:spTree>
    <p:extLst>
      <p:ext uri="{BB962C8B-B14F-4D97-AF65-F5344CB8AC3E}">
        <p14:creationId xmlns:p14="http://schemas.microsoft.com/office/powerpoint/2010/main" val="13184929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55A00-3D00-4E79-AD41-E6601921E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b68de9b6040b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DC21E-4B78-411B-954F-E8037A2B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601BE-DCC3-4712-BFE3-E2B38B56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D69DA-FFF8-4DFD-8086-D48059EF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13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E87F8-06DC-4B83-97A9-C07EB11F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D1E6C-48E3-401D-9C53-FACE5843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66B2E-F977-4E5C-82B6-D867AD12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Repository and Documentation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C4A87-5407-4585-96D3-CA37A302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full submission package is publicly accessible and organized for reproducibility.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D38E3-C1ED-435A-B5BD-35825FFB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1BB83-6550-4A94-AE67-0DDDCE18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1AE22-626F-44EF-BFD6-0A91976C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3FD14-064A-4FA4-BE87-DCD34B0A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95BE2-28C9-4DBD-964B-DA2D8895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F9C5D-5623-4F15-88BC-6A011235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8A4A6-2546-42AA-AAD5-501A121C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GitHub repository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2FC08-33BC-4F96-919D-90EC8D09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github.com/kemkem042/SmartLibraryOntology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contains the ontology files,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queries, SHACL shapes, report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artifacts, presentation, results,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and scripts.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57EEB-D72A-45D5-93ED-CC5B3A1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15F30-8BEE-454C-A841-92E88FDE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B0D35-E7B2-49BC-A400-F17FDCE6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11B56-8494-48EE-8467-89CC6E04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9AC79-3201-4EF1-93CE-5BFF0D98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0E8FF-36AE-4058-859D-8A362C8B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A46FE-D41D-4C19-B5E6-4F346BD3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Widoco documentation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B05F76-CB97-4EDF-8B08-38D40687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kemkem042.github.io/SmartLibraryOntology/widoco/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provides ontology metadata, class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hierarchy, properties, namespaces,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and diagrams.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69412-6D59-4C22-95A5-1CF95D92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5FAE5A-FB66-4963-A4A7-FE6600E7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D231F5-E71B-447B-A315-4B05C632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FCE4D5-C963-477F-9AEB-F3F59FC7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8B6086-5533-497A-88A1-9FDBE9A1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B8B17-9FD7-4DEA-8C2E-48BB6B2E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0AED51-14E7-4E6F-BF00-08DEB5EF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Submission package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392163-528D-4407-8899-0091E389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76750"/>
            <a:ext cx="292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repository also includes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report PDF, specification PDF,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presentation PDF or PPTX, query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results, and SHACL validation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outputs.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0C7E23-D644-4405-8FD7-B6A7AD6E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slide content is provided as editable PowerPoint text and shape objects.</a:t>
            </a:r>
          </a:p>
        </p:txBody>
      </p:sp>
    </p:spTree>
    <p:extLst>
      <p:ext uri="{BB962C8B-B14F-4D97-AF65-F5344CB8AC3E}">
        <p14:creationId xmlns:p14="http://schemas.microsoft.com/office/powerpoint/2010/main" val="46074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2026-06-01T20:16:11.5400000Z</dcterms:created>
  <dcterms:modified xsi:type="dcterms:W3CDTF">2026-06-01T20:16:11.5400000Z</dcterms:modified>
</coreProperties>
</file>